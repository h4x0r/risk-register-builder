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0" r:id="rId1"/>
  </p:sldMasterIdLst>
  <p:notesMasterIdLst>
    <p:notesMasterId r:id="rId5"/>
  </p:notesMasterIdLst>
  <p:sldIdLst>
    <p:sldId id="391" r:id="rId2"/>
    <p:sldId id="576" r:id="rId3"/>
    <p:sldId id="593" r:id="rId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B456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78692" autoAdjust="0"/>
  </p:normalViewPr>
  <p:slideViewPr>
    <p:cSldViewPr snapToGrid="0" snapToObjects="1">
      <p:cViewPr varScale="1">
        <p:scale>
          <a:sx n="63" d="100"/>
          <a:sy n="63" d="100"/>
        </p:scale>
        <p:origin x="183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04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409883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341962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1935-33DB-263C-39D7-539F1F9B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B647E-CE7D-B668-07B4-F0723EBCB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85914-0885-14E7-D17B-78F56AEC1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232112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27197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97272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633574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72854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70601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31880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00303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536534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800017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936392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119713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4182474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280795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1381531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1741027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4257073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404423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234358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29671503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38809276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14674401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3459215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1709950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18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1800"/>
          </a:p>
        </p:txBody>
      </p:sp>
    </p:spTree>
    <p:extLst>
      <p:ext uri="{BB962C8B-B14F-4D97-AF65-F5344CB8AC3E}">
        <p14:creationId xmlns:p14="http://schemas.microsoft.com/office/powerpoint/2010/main" val="41357083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 sz="216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 sz="2160"/>
          </a:p>
        </p:txBody>
      </p:sp>
    </p:spTree>
    <p:extLst>
      <p:ext uri="{BB962C8B-B14F-4D97-AF65-F5344CB8AC3E}">
        <p14:creationId xmlns:p14="http://schemas.microsoft.com/office/powerpoint/2010/main" val="119325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D6682-53B9-4354-8856-E4882925AD4C}" type="slidenum">
              <a:rPr lang="en-HK" smtClean="0"/>
              <a:t>‹#›</a:t>
            </a:fld>
            <a:endParaRPr lang="en-HK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AE4548-B511-47B7-AC17-757FA5BF2DD0}"/>
              </a:ext>
            </a:extLst>
          </p:cNvPr>
          <p:cNvSpPr/>
          <p:nvPr userDrawn="1"/>
        </p:nvSpPr>
        <p:spPr>
          <a:xfrm>
            <a:off x="5870448" y="3127248"/>
            <a:ext cx="4585063" cy="2978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sz="216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3F0617-84E8-478A-B524-129E5A2B5510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019176" y="7695603"/>
            <a:ext cx="592048" cy="37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2" r:id="rId21"/>
    <p:sldLayoutId id="2147483733" r:id="rId22"/>
    <p:sldLayoutId id="2147483734" r:id="rId23"/>
    <p:sldLayoutId id="2147483735" r:id="rId24"/>
    <p:sldLayoutId id="2147483736" r:id="rId25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ABA9-00B4-453B-AC41-7D158382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j-cs"/>
              </a:rPr>
              <a:t>2. </a:t>
            </a:r>
            <a:r>
              <a:rPr lang="zh-TW" altLang="en-US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j-cs"/>
              </a:rPr>
              <a:t>分析威脅和能力</a:t>
            </a:r>
            <a:endParaRPr lang="en-US" altLang="zh-TW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cs typeface="+mj-cs"/>
            </a:endParaRPr>
          </a:p>
        </p:txBody>
      </p:sp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59793DB3-948C-4240-BF15-4378EFA27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14942"/>
            <a:ext cx="6217920" cy="3373221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BD8B34-3379-CBD4-352D-1DD96674A9D2}"/>
              </a:ext>
            </a:extLst>
          </p:cNvPr>
          <p:cNvSpPr txBox="1"/>
          <p:nvPr/>
        </p:nvSpPr>
        <p:spPr>
          <a:xfrm>
            <a:off x="7406640" y="2190750"/>
            <a:ext cx="62179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lvl="1" indent="-274320" defTabSz="109728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3360"/>
              <a:t>收集信息</a:t>
            </a:r>
            <a:endParaRPr lang="en-US" altLang="zh-TW" sz="3360"/>
          </a:p>
          <a:p>
            <a:pPr marL="274320" lvl="2" indent="-274320" defTabSz="109728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3360"/>
              <a:t>審查內部計劃和政策</a:t>
            </a:r>
            <a:endParaRPr lang="en-US" altLang="zh-TW" sz="3360"/>
          </a:p>
          <a:p>
            <a:pPr marL="274320" lvl="2" indent="-274320" defTabSz="109728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3360"/>
              <a:t>與外部團體會面</a:t>
            </a:r>
            <a:endParaRPr lang="en-US" altLang="zh-TW" sz="3360"/>
          </a:p>
          <a:p>
            <a:pPr marL="274320" lvl="2" indent="-274320" defTabSz="109728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3360"/>
              <a:t>確定守則和法規</a:t>
            </a:r>
            <a:endParaRPr lang="en-US" altLang="zh-TW" sz="3360"/>
          </a:p>
          <a:p>
            <a:pPr marL="274320" lvl="2" indent="-274320" defTabSz="109728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3360"/>
              <a:t>識別關鍵產品、服務和運作</a:t>
            </a:r>
            <a:endParaRPr lang="en-US" altLang="zh-TW" sz="3360"/>
          </a:p>
          <a:p>
            <a:pPr marL="274320" lvl="2" indent="-274320" defTabSz="109728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3360"/>
              <a:t>識別內部資源和能力</a:t>
            </a:r>
            <a:endParaRPr lang="en-US" altLang="zh-TW" sz="3360"/>
          </a:p>
          <a:p>
            <a:pPr marL="274320" lvl="2" indent="-274320" defTabSz="109728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3360"/>
              <a:t>識別外部資源和能力</a:t>
            </a:r>
            <a:endParaRPr lang="en-US" altLang="zh-TW" sz="3360"/>
          </a:p>
          <a:p>
            <a:pPr marL="274320" lvl="2" indent="-274320" defTabSz="109728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TW" altLang="en-US" sz="3360"/>
              <a:t>進行保險審查</a:t>
            </a:r>
            <a:endParaRPr lang="en-US" altLang="zh-TW" sz="336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8A932-7CBB-4BC1-ABC5-D84EB141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04D6682-53B9-4354-8856-E4882925AD4C}" type="slidenum">
              <a:rPr lang="en-HK"/>
              <a:pPr>
                <a:spcAft>
                  <a:spcPts val="600"/>
                </a:spcAft>
              </a:pPr>
              <a:t>1</a:t>
            </a:fld>
            <a:endParaRPr lang="en-HK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364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ABA9-00B4-453B-AC41-7D158382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51779"/>
            <a:ext cx="12618720" cy="1590676"/>
          </a:xfrm>
        </p:spPr>
        <p:txBody>
          <a:bodyPr/>
          <a:lstStyle/>
          <a:p>
            <a:r>
              <a:rPr lang="en-US" altLang="zh-TW" sz="4800" b="1" dirty="0">
                <a:solidFill>
                  <a:srgbClr val="B130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2.</a:t>
            </a:r>
            <a:r>
              <a:rPr lang="zh-TW" altLang="en-US" sz="4800" b="1" dirty="0">
                <a:solidFill>
                  <a:srgbClr val="B130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 </a:t>
            </a:r>
            <a:r>
              <a:rPr lang="zh-TW" altLang="zh-HK" sz="4800" b="1" dirty="0">
                <a:solidFill>
                  <a:srgbClr val="B130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分析</a:t>
            </a:r>
            <a:r>
              <a:rPr lang="zh-TW" altLang="en-US" sz="4800" b="1" dirty="0">
                <a:solidFill>
                  <a:srgbClr val="B130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威脅</a:t>
            </a:r>
            <a:r>
              <a:rPr lang="zh-TW" altLang="zh-HK" sz="4800" b="1" dirty="0">
                <a:solidFill>
                  <a:srgbClr val="B130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和能力</a:t>
            </a:r>
            <a:endParaRPr lang="en-HK" altLang="zh-TW" sz="4800" b="1" dirty="0">
              <a:solidFill>
                <a:srgbClr val="B1302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8A932-7CBB-4BC1-ABC5-D84EB141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304D6682-53B9-4354-8856-E4882925AD4C}" type="slidenum">
              <a:rPr lang="en-HK">
                <a:solidFill>
                  <a:prstClr val="black">
                    <a:tint val="75000"/>
                  </a:prstClr>
                </a:solidFill>
                <a:latin typeface="Calibri"/>
                <a:ea typeface="PMingLiU"/>
              </a:rPr>
              <a:pPr defTabSz="548640"/>
              <a:t>2</a:t>
            </a:fld>
            <a:endParaRPr lang="en-HK" dirty="0">
              <a:solidFill>
                <a:prstClr val="black">
                  <a:tint val="75000"/>
                </a:prstClr>
              </a:solidFill>
              <a:latin typeface="Calibri"/>
              <a:ea typeface="PMingLiU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A81CFC9-F550-B8DC-7AD8-A9739E157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091678"/>
              </p:ext>
            </p:extLst>
          </p:nvPr>
        </p:nvGraphicFramePr>
        <p:xfrm>
          <a:off x="422478" y="2285965"/>
          <a:ext cx="13785443" cy="4610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84">
                  <a:extLst>
                    <a:ext uri="{9D8B030D-6E8A-4147-A177-3AD203B41FA5}">
                      <a16:colId xmlns:a16="http://schemas.microsoft.com/office/drawing/2014/main" val="2831793126"/>
                    </a:ext>
                  </a:extLst>
                </a:gridCol>
                <a:gridCol w="1754737">
                  <a:extLst>
                    <a:ext uri="{9D8B030D-6E8A-4147-A177-3AD203B41FA5}">
                      <a16:colId xmlns:a16="http://schemas.microsoft.com/office/drawing/2014/main" val="3450706477"/>
                    </a:ext>
                  </a:extLst>
                </a:gridCol>
                <a:gridCol w="1754737">
                  <a:extLst>
                    <a:ext uri="{9D8B030D-6E8A-4147-A177-3AD203B41FA5}">
                      <a16:colId xmlns:a16="http://schemas.microsoft.com/office/drawing/2014/main" val="2037248260"/>
                    </a:ext>
                  </a:extLst>
                </a:gridCol>
                <a:gridCol w="1754737">
                  <a:extLst>
                    <a:ext uri="{9D8B030D-6E8A-4147-A177-3AD203B41FA5}">
                      <a16:colId xmlns:a16="http://schemas.microsoft.com/office/drawing/2014/main" val="3066724133"/>
                    </a:ext>
                  </a:extLst>
                </a:gridCol>
                <a:gridCol w="1754737">
                  <a:extLst>
                    <a:ext uri="{9D8B030D-6E8A-4147-A177-3AD203B41FA5}">
                      <a16:colId xmlns:a16="http://schemas.microsoft.com/office/drawing/2014/main" val="257250040"/>
                    </a:ext>
                  </a:extLst>
                </a:gridCol>
                <a:gridCol w="1754737">
                  <a:extLst>
                    <a:ext uri="{9D8B030D-6E8A-4147-A177-3AD203B41FA5}">
                      <a16:colId xmlns:a16="http://schemas.microsoft.com/office/drawing/2014/main" val="3844773686"/>
                    </a:ext>
                  </a:extLst>
                </a:gridCol>
                <a:gridCol w="1754737">
                  <a:extLst>
                    <a:ext uri="{9D8B030D-6E8A-4147-A177-3AD203B41FA5}">
                      <a16:colId xmlns:a16="http://schemas.microsoft.com/office/drawing/2014/main" val="2910681787"/>
                    </a:ext>
                  </a:extLst>
                </a:gridCol>
                <a:gridCol w="1754737">
                  <a:extLst>
                    <a:ext uri="{9D8B030D-6E8A-4147-A177-3AD203B41FA5}">
                      <a16:colId xmlns:a16="http://schemas.microsoft.com/office/drawing/2014/main" val="3186051817"/>
                    </a:ext>
                  </a:extLst>
                </a:gridCol>
              </a:tblGrid>
              <a:tr h="504749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600" dirty="0"/>
                        <a:t>緊急事故種類</a:t>
                      </a:r>
                      <a:endParaRPr lang="en-HK" sz="2600" dirty="0"/>
                    </a:p>
                  </a:txBody>
                  <a:tcPr marL="109728" marR="109728" marT="54864" marB="548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HK" sz="2600" dirty="0"/>
                        <a:t>發生機率</a:t>
                      </a:r>
                      <a:endParaRPr lang="en-HK" sz="2600" dirty="0"/>
                    </a:p>
                  </a:txBody>
                  <a:tcPr marL="109728" marR="109728" marT="54864" marB="54864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TW" altLang="en-US" sz="2600" dirty="0"/>
                        <a:t>評估影響</a:t>
                      </a:r>
                      <a:endParaRPr lang="en-HK" sz="2600" dirty="0"/>
                    </a:p>
                  </a:txBody>
                  <a:tcPr marL="109728" marR="109728" marT="54864" marB="54864" anchor="ctr"/>
                </a:tc>
                <a:tc hMerge="1">
                  <a:txBody>
                    <a:bodyPr/>
                    <a:lstStyle/>
                    <a:p>
                      <a:endParaRPr lang="en-H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HK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600" dirty="0"/>
                        <a:t>內部資源</a:t>
                      </a:r>
                      <a:endParaRPr lang="en-HK" sz="2600" dirty="0"/>
                    </a:p>
                  </a:txBody>
                  <a:tcPr marL="109728" marR="109728" marT="54864" marB="548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600" dirty="0"/>
                        <a:t>外部資源</a:t>
                      </a:r>
                      <a:endParaRPr lang="en-HK" sz="2600" dirty="0"/>
                    </a:p>
                  </a:txBody>
                  <a:tcPr marL="109728" marR="109728" marT="54864" marB="54864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600" dirty="0"/>
                        <a:t>總數</a:t>
                      </a:r>
                      <a:endParaRPr lang="en-HK" sz="2600" dirty="0"/>
                    </a:p>
                  </a:txBody>
                  <a:tcPr marL="109728" marR="109728" marT="54864" marB="54864" anchor="ctr"/>
                </a:tc>
                <a:extLst>
                  <a:ext uri="{0D108BD9-81ED-4DB2-BD59-A6C34878D82A}">
                    <a16:rowId xmlns:a16="http://schemas.microsoft.com/office/drawing/2014/main" val="2646002745"/>
                  </a:ext>
                </a:extLst>
              </a:tr>
              <a:tr h="504749">
                <a:tc v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solidFill>
                            <a:schemeClr val="bg1"/>
                          </a:solidFill>
                        </a:rPr>
                        <a:t>人命安全</a:t>
                      </a:r>
                      <a:endParaRPr lang="en-HK" sz="2600" dirty="0">
                        <a:solidFill>
                          <a:schemeClr val="bg1"/>
                        </a:solidFill>
                      </a:endParaRPr>
                    </a:p>
                  </a:txBody>
                  <a:tcPr marL="109728" marR="109728" marT="54864" marB="5486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solidFill>
                            <a:schemeClr val="bg1"/>
                          </a:solidFill>
                        </a:rPr>
                        <a:t>財產安全</a:t>
                      </a:r>
                      <a:endParaRPr lang="en-HK" sz="2600" dirty="0">
                        <a:solidFill>
                          <a:schemeClr val="bg1"/>
                        </a:solidFill>
                      </a:endParaRPr>
                    </a:p>
                  </a:txBody>
                  <a:tcPr marL="109728" marR="109728" marT="54864" marB="5486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600" dirty="0">
                          <a:solidFill>
                            <a:schemeClr val="bg1"/>
                          </a:solidFill>
                        </a:rPr>
                        <a:t>業務運作</a:t>
                      </a:r>
                      <a:endParaRPr lang="en-HK" sz="2600" dirty="0">
                        <a:solidFill>
                          <a:schemeClr val="bg1"/>
                        </a:solidFill>
                      </a:endParaRPr>
                    </a:p>
                  </a:txBody>
                  <a:tcPr marL="109728" marR="109728" marT="54864" marB="54864"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H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15522"/>
                  </a:ext>
                </a:extLst>
              </a:tr>
              <a:tr h="562882">
                <a:tc>
                  <a:txBody>
                    <a:bodyPr/>
                    <a:lstStyle/>
                    <a:p>
                      <a:endParaRPr lang="en-HK" sz="2600" dirty="0"/>
                    </a:p>
                  </a:txBody>
                  <a:tcPr marL="109728" marR="109728" marT="54864" marB="54864"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zh-TW" altLang="en-US" sz="2600" dirty="0"/>
                        <a:t>高</a:t>
                      </a:r>
                      <a:r>
                        <a:rPr lang="en-US" altLang="zh-TW" sz="2600" dirty="0"/>
                        <a:t>(5)</a:t>
                      </a:r>
                      <a:r>
                        <a:rPr lang="zh-TW" altLang="en-US" sz="2600" dirty="0"/>
                        <a:t>                                                                         低</a:t>
                      </a:r>
                      <a:r>
                        <a:rPr lang="en-US" altLang="zh-TW" sz="2600" dirty="0"/>
                        <a:t>(1)</a:t>
                      </a:r>
                      <a:endParaRPr lang="en-HK" sz="2600" dirty="0"/>
                    </a:p>
                  </a:txBody>
                  <a:tcPr marL="109728" marR="109728" marT="54864" marB="54864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H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H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HK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TW" altLang="en-US" sz="2600" dirty="0"/>
                        <a:t>弱</a:t>
                      </a:r>
                      <a:r>
                        <a:rPr lang="en-US" altLang="zh-TW" sz="2600" dirty="0"/>
                        <a:t>(5)                       </a:t>
                      </a:r>
                      <a:r>
                        <a:rPr lang="zh-TW" altLang="en-US" sz="2600" dirty="0"/>
                        <a:t>   強</a:t>
                      </a:r>
                      <a:r>
                        <a:rPr lang="en-US" altLang="zh-TW" sz="2600" dirty="0"/>
                        <a:t>(1)</a:t>
                      </a:r>
                      <a:endParaRPr lang="en-HK" sz="2600" dirty="0"/>
                    </a:p>
                  </a:txBody>
                  <a:tcPr marL="109728" marR="109728" marT="54864" marB="54864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H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HK" sz="2600" dirty="0"/>
                    </a:p>
                  </a:txBody>
                  <a:tcPr marL="109728" marR="109728" marT="54864" marB="54864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438760"/>
                  </a:ext>
                </a:extLst>
              </a:tr>
              <a:tr h="504749">
                <a:tc>
                  <a:txBody>
                    <a:bodyPr/>
                    <a:lstStyle/>
                    <a:p>
                      <a:endParaRPr lang="en-HK" sz="26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606991478"/>
                  </a:ext>
                </a:extLst>
              </a:tr>
              <a:tr h="504749"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830793980"/>
                  </a:ext>
                </a:extLst>
              </a:tr>
              <a:tr h="504749"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675545109"/>
                  </a:ext>
                </a:extLst>
              </a:tr>
              <a:tr h="504749"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696620929"/>
                  </a:ext>
                </a:extLst>
              </a:tr>
              <a:tr h="504749"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3390004811"/>
                  </a:ext>
                </a:extLst>
              </a:tr>
              <a:tr h="504749"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HK" sz="2600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896747106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448953-5B0D-3474-E49B-81BA28141479}"/>
              </a:ext>
            </a:extLst>
          </p:cNvPr>
          <p:cNvCxnSpPr>
            <a:cxnSpLocks/>
          </p:cNvCxnSpPr>
          <p:nvPr/>
        </p:nvCxnSpPr>
        <p:spPr>
          <a:xfrm>
            <a:off x="2979775" y="3586449"/>
            <a:ext cx="4970034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F9BF6F-809D-A5D4-7608-76577B2FFB01}"/>
              </a:ext>
            </a:extLst>
          </p:cNvPr>
          <p:cNvCxnSpPr>
            <a:cxnSpLocks/>
          </p:cNvCxnSpPr>
          <p:nvPr/>
        </p:nvCxnSpPr>
        <p:spPr>
          <a:xfrm>
            <a:off x="9847607" y="3586449"/>
            <a:ext cx="174596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F926FDA-A7AF-6BC0-4C2D-2A053BF193F8}"/>
              </a:ext>
            </a:extLst>
          </p:cNvPr>
          <p:cNvSpPr txBox="1"/>
          <p:nvPr/>
        </p:nvSpPr>
        <p:spPr>
          <a:xfrm>
            <a:off x="4187951" y="6886193"/>
            <a:ext cx="6254496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8640"/>
            <a:r>
              <a:rPr lang="zh-TW" altLang="en-US" sz="3360" dirty="0">
                <a:solidFill>
                  <a:srgbClr val="C00000"/>
                </a:solidFill>
                <a:latin typeface="Calibri"/>
                <a:ea typeface="PMingLiU"/>
              </a:rPr>
              <a:t>（分數越低越好）</a:t>
            </a:r>
            <a:endParaRPr lang="en-HK" sz="3360" dirty="0">
              <a:solidFill>
                <a:srgbClr val="C00000"/>
              </a:solidFill>
              <a:latin typeface="Calibri"/>
              <a:ea typeface="PMingLiU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E21F9-D173-A1EC-A24E-C48939554813}"/>
              </a:ext>
            </a:extLst>
          </p:cNvPr>
          <p:cNvSpPr txBox="1"/>
          <p:nvPr/>
        </p:nvSpPr>
        <p:spPr>
          <a:xfrm>
            <a:off x="1155371" y="1538825"/>
            <a:ext cx="7977871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548640">
              <a:buFont typeface="Wingdings" panose="05000000000000000000" pitchFamily="2" charset="2"/>
              <a:buChar char="Ø"/>
            </a:pPr>
            <a:r>
              <a:rPr lang="zh-TW" altLang="en-US" sz="3360" dirty="0">
                <a:solidFill>
                  <a:prstClr val="black"/>
                </a:solidFill>
                <a:latin typeface="Calibri"/>
                <a:ea typeface="PMingLiU"/>
              </a:rPr>
              <a:t>進行</a:t>
            </a:r>
            <a:r>
              <a:rPr lang="zh-TW" altLang="zh-HK" sz="3360" dirty="0">
                <a:solidFill>
                  <a:prstClr val="black"/>
                </a:solidFill>
                <a:latin typeface="Calibri"/>
                <a:ea typeface="PMingLiU"/>
              </a:rPr>
              <a:t>脆弱分析</a:t>
            </a:r>
            <a:endParaRPr lang="en-HK" sz="3360" dirty="0">
              <a:solidFill>
                <a:prstClr val="black"/>
              </a:solidFill>
              <a:latin typeface="Calibri"/>
              <a:ea typeface="PMingLiU"/>
            </a:endParaRPr>
          </a:p>
          <a:p>
            <a:pPr marL="342900" indent="-342900" defTabSz="548640">
              <a:buFont typeface="Wingdings" panose="05000000000000000000" pitchFamily="2" charset="2"/>
              <a:buChar char="Ø"/>
            </a:pPr>
            <a:endParaRPr lang="en-HK" sz="3360" dirty="0">
              <a:solidFill>
                <a:prstClr val="black"/>
              </a:solidFill>
              <a:latin typeface="Calibri"/>
              <a:ea typeface="PMingLiU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8570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2018-376A-87E8-334B-A04B0BC5C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9F9E-4D18-DC1B-18DC-E6D7CFCA1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539459"/>
            <a:ext cx="12618720" cy="1590676"/>
          </a:xfrm>
        </p:spPr>
        <p:txBody>
          <a:bodyPr/>
          <a:lstStyle/>
          <a:p>
            <a:pPr algn="ctr"/>
            <a:r>
              <a:rPr lang="zh-TW" altLang="en-HK" sz="4800" b="1" dirty="0">
                <a:solidFill>
                  <a:srgbClr val="B130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風險登記冊範本</a:t>
            </a:r>
            <a:endParaRPr lang="en-HK" altLang="zh-TW" sz="4800" b="1" dirty="0">
              <a:solidFill>
                <a:srgbClr val="B1302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C88C7-85C3-4CC1-3429-E5818D8F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48640"/>
            <a:fld id="{304D6682-53B9-4354-8856-E4882925AD4C}" type="slidenum">
              <a:rPr lang="en-HK">
                <a:solidFill>
                  <a:prstClr val="black">
                    <a:tint val="75000"/>
                  </a:prstClr>
                </a:solidFill>
                <a:latin typeface="Calibri"/>
                <a:ea typeface="PMingLiU"/>
              </a:rPr>
              <a:pPr defTabSz="548640"/>
              <a:t>3</a:t>
            </a:fld>
            <a:endParaRPr lang="en-HK" dirty="0">
              <a:solidFill>
                <a:prstClr val="black">
                  <a:tint val="75000"/>
                </a:prstClr>
              </a:solidFill>
              <a:latin typeface="Calibri"/>
              <a:ea typeface="PMingLiU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51F45D5-30FA-1D72-E001-82E3C8733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40980"/>
              </p:ext>
            </p:extLst>
          </p:nvPr>
        </p:nvGraphicFramePr>
        <p:xfrm>
          <a:off x="1005840" y="2412076"/>
          <a:ext cx="12618720" cy="2373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632059120"/>
                    </a:ext>
                  </a:extLst>
                </a:gridCol>
                <a:gridCol w="2761488">
                  <a:extLst>
                    <a:ext uri="{9D8B030D-6E8A-4147-A177-3AD203B41FA5}">
                      <a16:colId xmlns:a16="http://schemas.microsoft.com/office/drawing/2014/main" val="837103952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449464766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984498491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1535331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800" b="1" kern="0" dirty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威脅</a:t>
                      </a:r>
                      <a:r>
                        <a:rPr lang="en-HK" sz="28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ctr">
                        <a:buNone/>
                      </a:pPr>
                      <a:r>
                        <a:rPr lang="en-HK" sz="28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(Threat)</a:t>
                      </a:r>
                      <a:endParaRPr lang="en-HK" sz="2800" kern="100" dirty="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800" b="1" ker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脆弱性</a:t>
                      </a:r>
                      <a:r>
                        <a:rPr lang="en-HK" sz="28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(Vulnerability)</a:t>
                      </a:r>
                      <a:endParaRPr lang="en-HK" sz="2800" kern="10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800" b="1" kern="0" dirty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影響</a:t>
                      </a:r>
                      <a:r>
                        <a:rPr lang="en-HK" sz="28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ctr">
                        <a:buNone/>
                      </a:pPr>
                      <a:r>
                        <a:rPr lang="en-HK" sz="28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(Impact)</a:t>
                      </a:r>
                      <a:endParaRPr lang="en-HK" sz="2800" kern="100" dirty="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800" b="1" kern="0" dirty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風險</a:t>
                      </a:r>
                      <a:endParaRPr lang="en-HK" altLang="zh-CN" sz="2800" b="1" kern="0" dirty="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PMingLiU" panose="02020500000000000000" pitchFamily="18" charset="-120"/>
                      </a:endParaRPr>
                    </a:p>
                    <a:p>
                      <a:pPr algn="ctr">
                        <a:buNone/>
                      </a:pPr>
                      <a:r>
                        <a:rPr lang="zh-CN" sz="2800" b="1" kern="0" dirty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等級</a:t>
                      </a:r>
                      <a:endParaRPr lang="en-HK" sz="2800" kern="100" dirty="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800" b="1" kern="0" dirty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緩解策略</a:t>
                      </a:r>
                      <a:endParaRPr lang="en-HK" sz="2800" kern="100" dirty="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76237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b="1" ker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十號風球</a:t>
                      </a:r>
                      <a:endParaRPr lang="en-HK" sz="2400" kern="10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ker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面向海港的大型玻璃大堂</a:t>
                      </a:r>
                      <a:endParaRPr lang="en-HK" sz="2400" kern="10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ker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員工</a:t>
                      </a:r>
                      <a:r>
                        <a:rPr lang="en-HK" sz="24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zh-CN" sz="2400" ker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公眾嚴重受傷</a:t>
                      </a:r>
                      <a:endParaRPr lang="en-HK" sz="2400" kern="10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b="1" ker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高</a:t>
                      </a:r>
                      <a:endParaRPr lang="en-HK" sz="2400" kern="10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2400" ker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貼上防風膜；封鎖大堂；將員工移至後勤辦公室。</a:t>
                      </a:r>
                      <a:endParaRPr lang="en-HK" sz="2400" kern="10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87083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b="1" ker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停電</a:t>
                      </a:r>
                      <a:endParaRPr lang="en-HK" sz="2400" kern="10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ker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電子鎖失效並鎖死</a:t>
                      </a:r>
                      <a:r>
                        <a:rPr lang="en-HK" sz="24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(Fail-secure)</a:t>
                      </a:r>
                      <a:endParaRPr lang="en-HK" sz="2400" kern="10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ker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員工被困伺服器房</a:t>
                      </a:r>
                      <a:endParaRPr lang="en-HK" sz="2400" kern="10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b="1" kern="0" dirty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中</a:t>
                      </a:r>
                      <a:endParaRPr lang="en-HK" sz="2400" kern="100" dirty="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sz="2400" kern="0" dirty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  <a:cs typeface="PMingLiU" panose="02020500000000000000" pitchFamily="18" charset="-120"/>
                        </a:rPr>
                        <a:t>安裝機械覆蓋鑰匙；為門鎖安裝備用電池。</a:t>
                      </a:r>
                      <a:endParaRPr lang="en-HK" sz="2400" kern="100" dirty="0">
                        <a:effectLst/>
                        <a:latin typeface="PMingLiU" panose="02020500000000000000" pitchFamily="18" charset="-120"/>
                        <a:ea typeface="PMingLiU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787664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56651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9|2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9|2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9|21.2"/>
</p:tagLst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A766E"/>
      </a:accent6>
      <a:hlink>
        <a:srgbClr val="0563C1"/>
      </a:hlink>
      <a:folHlink>
        <a:srgbClr val="954F72"/>
      </a:folHlink>
    </a:clrScheme>
    <a:fontScheme name="Custom 21">
      <a:majorFont>
        <a:latin typeface="Calibri Light"/>
        <a:ea typeface="PMingLiU"/>
        <a:cs typeface=""/>
      </a:majorFont>
      <a:minorFont>
        <a:latin typeface="Calibri"/>
        <a:ea typeface="PMingLiU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269</Words>
  <Application>Microsoft Office PowerPoint</Application>
  <PresentationFormat>Custom</PresentationFormat>
  <Paragraphs>45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Calibri Light</vt:lpstr>
      <vt:lpstr>Times New Roman</vt:lpstr>
      <vt:lpstr>Calibri</vt:lpstr>
      <vt:lpstr>Wingdings</vt:lpstr>
      <vt:lpstr>Arial</vt:lpstr>
      <vt:lpstr>PMingLiU</vt:lpstr>
      <vt:lpstr>1_Office Theme</vt:lpstr>
      <vt:lpstr>2. 分析威脅和能力</vt:lpstr>
      <vt:lpstr>2. 分析威脅和能力</vt:lpstr>
      <vt:lpstr>風險登記冊範本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Penny Fung</dc:creator>
  <cp:lastModifiedBy>Penny Fung</cp:lastModifiedBy>
  <cp:revision>35</cp:revision>
  <dcterms:created xsi:type="dcterms:W3CDTF">2025-11-24T08:38:30Z</dcterms:created>
  <dcterms:modified xsi:type="dcterms:W3CDTF">2025-12-08T06:56:17Z</dcterms:modified>
</cp:coreProperties>
</file>